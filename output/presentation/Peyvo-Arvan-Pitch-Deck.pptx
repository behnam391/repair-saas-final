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ce4e7e4bc444b1" /><Relationship Type="http://schemas.openxmlformats.org/officeDocument/2006/relationships/extended-properties" Target="/docProps/app.xml" Id="R900fb1a17faa469b" /><Relationship Type="http://schemas.openxmlformats.org/officeDocument/2006/relationships/officeDocument" Target="/ppt/presentation.xml" Id="R86a1c7ba2fd343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ecfa1d9cc04920"/>
  </p:sldMasterIdLst>
  <p:notesMasterIdLst>
    <p:notesMasterId xmlns:r="http://schemas.openxmlformats.org/officeDocument/2006/relationships" r:id="R06353b3c74884401"/>
  </p:notesMasterIdLst>
  <p:sldIdLst>
    <p:sldId xmlns:r="http://schemas.openxmlformats.org/officeDocument/2006/relationships" id="256" r:id="Re51e041d229a4949"/>
    <p:sldId xmlns:r="http://schemas.openxmlformats.org/officeDocument/2006/relationships" id="257" r:id="R036d60d415024a17"/>
    <p:sldId xmlns:r="http://schemas.openxmlformats.org/officeDocument/2006/relationships" id="258" r:id="R3b5c6823c80d403b"/>
    <p:sldId xmlns:r="http://schemas.openxmlformats.org/officeDocument/2006/relationships" id="259" r:id="Rc902909862b749f0"/>
    <p:sldId xmlns:r="http://schemas.openxmlformats.org/officeDocument/2006/relationships" id="260" r:id="Rc7117724eaf64164"/>
    <p:sldId xmlns:r="http://schemas.openxmlformats.org/officeDocument/2006/relationships" id="261" r:id="R8341eb3ff48c43ef"/>
    <p:sldId xmlns:r="http://schemas.openxmlformats.org/officeDocument/2006/relationships" id="262" r:id="R970017f2e38b41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9faed8f1624db6" /><Relationship Type="http://schemas.openxmlformats.org/officeDocument/2006/relationships/slideMaster" Target="/ppt/slideMasters/slideMaster1.xml" Id="R02ecfa1d9cc04920" /><Relationship Type="http://schemas.openxmlformats.org/officeDocument/2006/relationships/notesMaster" Target="/ppt/notesMasters/notesMaster1.xml" Id="R06353b3c74884401" /><Relationship Type="http://schemas.openxmlformats.org/officeDocument/2006/relationships/presProps" Target="/ppt/presProps.xml" Id="R3902940493294660" /><Relationship Type="http://schemas.openxmlformats.org/officeDocument/2006/relationships/tableStyles" Target="/ppt/tableStyles.xml" Id="R59aca818aa3b4d3c" /><Relationship Type="http://schemas.openxmlformats.org/officeDocument/2006/relationships/slide" Target="/ppt/slides/slide1.xml" Id="Re51e041d229a4949" /><Relationship Type="http://schemas.openxmlformats.org/officeDocument/2006/relationships/slide" Target="/ppt/slides/slide2.xml" Id="R036d60d415024a17" /><Relationship Type="http://schemas.openxmlformats.org/officeDocument/2006/relationships/slide" Target="/ppt/slides/slide3.xml" Id="R3b5c6823c80d403b" /><Relationship Type="http://schemas.openxmlformats.org/officeDocument/2006/relationships/slide" Target="/ppt/slides/slide4.xml" Id="Rc902909862b749f0" /><Relationship Type="http://schemas.openxmlformats.org/officeDocument/2006/relationships/slide" Target="/ppt/slides/slide5.xml" Id="Rc7117724eaf64164" /><Relationship Type="http://schemas.openxmlformats.org/officeDocument/2006/relationships/slide" Target="/ppt/slides/slide6.xml" Id="R8341eb3ff48c43ef" /><Relationship Type="http://schemas.openxmlformats.org/officeDocument/2006/relationships/slide" Target="/ppt/slides/slide7.xml" Id="R970017f2e38b41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085b83c6f54b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897a2200c84283" /><Relationship Type="http://schemas.openxmlformats.org/officeDocument/2006/relationships/notesMaster" Target="/ppt/notesMasters/notesMaster1.xml" Id="Rb7ddd731b5f042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4ee522ce164f35" /><Relationship Type="http://schemas.openxmlformats.org/officeDocument/2006/relationships/notesMaster" Target="/ppt/notesMasters/notesMaster1.xml" Id="Reada28604ba94b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6cba501f5648d7" /><Relationship Type="http://schemas.openxmlformats.org/officeDocument/2006/relationships/notesMaster" Target="/ppt/notesMasters/notesMaster1.xml" Id="R87c9caa3fa1243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26fb4bb09a427d" /><Relationship Type="http://schemas.openxmlformats.org/officeDocument/2006/relationships/notesMaster" Target="/ppt/notesMasters/notesMaster1.xml" Id="Re626f6dabf6b4f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f7aff0fe45483f" /><Relationship Type="http://schemas.openxmlformats.org/officeDocument/2006/relationships/notesMaster" Target="/ppt/notesMasters/notesMaster1.xml" Id="Re8fa44d2930244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b7219b62e84658" /><Relationship Type="http://schemas.openxmlformats.org/officeDocument/2006/relationships/notesMaster" Target="/ppt/notesMasters/notesMaster1.xml" Id="Rc711cc3e3de447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5ca42ae005426b" /><Relationship Type="http://schemas.openxmlformats.org/officeDocument/2006/relationships/notesMaster" Target="/ppt/notesMasters/notesMaster1.xml" Id="R45c5ce22bd0440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دارایی‌های برند و تصویر اصلی: فایل‌های داخلی پروژه پیوو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تعریف مسئله بر اساس گردش‌کار پیاده‌سازی‌شده در پروژه و صفحات معرفی محصول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اسکرین‌شات و متن قابلیت‌ها: فایل‌های داخلی پروژه پیوو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قابلیت‌ها: کد و صفحات داخلی پروژه پیوو شامل tickets، invoices، customer و collaboration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مدل اشتراک و دسته‌بندی کاربران: lib/plans.ts و app/signup/page.tsx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وضعیت محصول: مخزن پروژه، فایل APK، مسیرهای پرداخت، پیامک و انتشار فروشگاه‌ها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نیازهای زیرساختی بر اساس معماری فعلی پروژه: Next.js، پایگاه داده، فایل، بکاپ و CDN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100e12558b41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32518c00864414" /><Relationship Type="http://schemas.openxmlformats.org/officeDocument/2006/relationships/slideLayout" Target="/ppt/slideLayouts/slideLayout1.xml" Id="R07c16ab44b2645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c16ab44b2645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ef3c94f944f1f" /><Relationship Type="http://schemas.openxmlformats.org/officeDocument/2006/relationships/image" Target="/ppt/media/image.jpeg" Id="Re734f1d8c5b8499f" /><Relationship Type="http://schemas.openxmlformats.org/officeDocument/2006/relationships/image" Target="/ppt/media/image.png" Id="R50aa9a922e8b458d" /><Relationship Type="http://schemas.openxmlformats.org/officeDocument/2006/relationships/notesSlide" Target="/ppt/notesSlides/notesSlide1.xml" Id="R6bc7547e3eb14f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8b60839e34790" /><Relationship Type="http://schemas.openxmlformats.org/officeDocument/2006/relationships/notesSlide" Target="/ppt/notesSlides/notesSlide2.xml" Id="R88906673bc0948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36763679e4f1d" /><Relationship Type="http://schemas.openxmlformats.org/officeDocument/2006/relationships/image" Target="/ppt/media/image2.png" Id="Rc76735f1f4174cae" /><Relationship Type="http://schemas.openxmlformats.org/officeDocument/2006/relationships/notesSlide" Target="/ppt/notesSlides/notesSlide3.xml" Id="R464322d6331d44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3c3b224134f1a" /><Relationship Type="http://schemas.openxmlformats.org/officeDocument/2006/relationships/notesSlide" Target="/ppt/notesSlides/notesSlide4.xml" Id="R236466156a004d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beb65b5d54196" /><Relationship Type="http://schemas.openxmlformats.org/officeDocument/2006/relationships/notesSlide" Target="/ppt/notesSlides/notesSlide5.xml" Id="Rcce0be8f869d4b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ca28c029740e1" /><Relationship Type="http://schemas.openxmlformats.org/officeDocument/2006/relationships/notesSlide" Target="/ppt/notesSlides/notesSlide6.xml" Id="R4ee90e9c42a04b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fc35ae8dd449a" /><Relationship Type="http://schemas.openxmlformats.org/officeDocument/2006/relationships/notesSlide" Target="/ppt/notesSlides/notesSlide7.xml" Id="Re3f9a3ea51cc45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83F676-51F0-4A56-8A2A-78926F62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CF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34f1d8c5b8499f"/>
          <a:srcRect xmlns:a="http://schemas.openxmlformats.org/drawingml/2006/main" l="28125" t="0" r="281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DAC54-9B36-4F9C-BB8B-C79052C7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a9a922e8b458d"/>
          <a:stretch xmlns:a="http://schemas.openxmlformats.org/drawingml/2006/main"/>
        </p:blipFill>
        <p:spPr>
          <a:xfrm xmlns:a="http://schemas.openxmlformats.org/drawingml/2006/main">
            <a:off x="685800" y="590550"/>
            <a:ext cx="1695450" cy="16954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55BA0-E907-4189-91F7-BAFDBF2C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4650" b="1">
                <a:solidFill>
                  <a:srgbClr val="071426"/>
                </a:solidFill>
                <a:latin typeface="Tahoma"/>
                <a:ea typeface="Tahoma"/>
                <a:cs typeface="Tahoma"/>
              </a:defRPr>
            </a:pPr>
            <a:r>
              <a:rPr sz="4650" b="1">
                <a:solidFill>
                  <a:srgbClr val="071426"/>
                </a:solidFill>
                <a:latin typeface="Tahoma"/>
                <a:ea typeface="Tahoma"/>
                <a:cs typeface="Tahoma"/>
              </a:rPr>
              <a:t>پیوو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6E8B9-6998-40E0-B344-25AA11B1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276DB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276DB"/>
                </a:solidFill>
                <a:latin typeface="Tahoma"/>
                <a:ea typeface="Tahoma"/>
                <a:cs typeface="Tahoma"/>
              </a:rPr>
              <a:t>هوشمند زیرساخت</a:t>
            </a:r>
          </a:p>
          <a:p xmlns:a="http://schemas.openxmlformats.org/drawingml/2006/main">
            <a:pPr algn="r">
              <a:defRPr sz="2250" b="1">
                <a:solidFill>
                  <a:srgbClr val="1276DB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276DB"/>
                </a:solidFill>
                <a:latin typeface="Tahoma"/>
                <a:ea typeface="Tahoma"/>
                <a:cs typeface="Tahoma"/>
              </a:rPr>
              <a:t>موبایل تعمیرگاه‌های مدیریت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B61080-851D-4208-BFCA-C37E39C6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3657B"/>
                </a:solidFill>
                <a:latin typeface="Tahoma"/>
                <a:ea typeface="Tahoma"/>
                <a:cs typeface="Tahoma"/>
              </a:rPr>
              <a:t>فاکتور و تحویل تا دستگاه پذیرش از</a:t>
            </a:r>
          </a:p>
          <a:p xmlns:a="http://schemas.openxmlformats.org/drawingml/2006/main">
            <a:pPr algn="r">
              <a:defRPr sz="1500" b="0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3657B"/>
                </a:solidFill>
                <a:latin typeface="Tahoma"/>
                <a:ea typeface="Tahoma"/>
                <a:cs typeface="Tahoma"/>
              </a:rPr>
              <a:t>ابری زیرساخت و مشتری با یکپارچه ارتباط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2D078A-587C-499D-B507-6D0A7519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A9B3A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2A9B3A"/>
                </a:solidFill>
                <a:latin typeface="Tahoma"/>
                <a:ea typeface="Tahoma"/>
                <a:cs typeface="Tahoma"/>
              </a:rPr>
              <a:t>۱۴۰۵ | آروان‌کلاد زیرساختی حمایت درخواست</a:t>
            </a:r>
          </a:p>
        </p:txBody>
      </p:sp>
    </p:spTree>
    <p:extLst>
      <p:ext uri="{BB962C8B-B14F-4D97-AF65-F5344CB8AC3E}">
        <p14:creationId xmlns:p14="http://schemas.microsoft.com/office/powerpoint/2010/main" val="17582602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EF8383-BA91-46AE-87E5-AEDFB71F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176C9-3B3A-41E5-9A36-D64BDFE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D4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EF947-405E-4556-8FCF-0392C06C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3657B"/>
                </a:solidFill>
                <a:latin typeface="Tahoma"/>
                <a:ea typeface="Tahoma"/>
                <a:cs typeface="Tahoma"/>
              </a:rPr>
              <a:t>۰2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E3580-D7BC-45A0-AF04-677EFA15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436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53657B"/>
                </a:solidFill>
                <a:latin typeface="Tahoma"/>
                <a:ea typeface="Tahoma"/>
                <a:cs typeface="Tahoma"/>
              </a:rPr>
              <a:t>PEYVO  |  PITCH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93699-5B96-43DF-8275-80319646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071426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071426"/>
                </a:solidFill>
                <a:latin typeface="Tahoma"/>
                <a:ea typeface="Tahoma"/>
                <a:cs typeface="Tahoma"/>
              </a:rPr>
              <a:t>می‌کند کند را تعمیرگاه رشد سنتی فرایند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D183D-8477-4AC9-B622-8933E32C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81125"/>
            <a:ext cx="542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53657B"/>
                </a:solidFill>
                <a:latin typeface="Tahoma"/>
                <a:ea typeface="Tahoma"/>
                <a:cs typeface="Tahoma"/>
              </a:rPr>
              <a:t>می‌شود پخش تماس و دفتر بین روزانه عملیات از زیادی بخش</a:t>
            </a:r>
          </a:p>
          <a:p xmlns:a="http://schemas.openxmlformats.org/drawingml/2006/main">
            <a:pPr algn="r">
              <a:defRPr sz="1800" b="1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53657B"/>
                </a:solidFill>
                <a:latin typeface="Tahoma"/>
                <a:ea typeface="Tahoma"/>
                <a:cs typeface="Tahoma"/>
              </a:rPr>
              <a:t>می‌ماند باقی افراد حافظه و پیام‌رسان در دیگر بخشی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F31B62-9FCE-413B-BEF3-7A77A994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590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6DF56C-72A2-4434-AEA4-3D809226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483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71426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71426"/>
                </a:solidFill>
                <a:latin typeface="Tahoma"/>
                <a:ea typeface="Tahoma"/>
                <a:cs typeface="Tahoma"/>
              </a:rPr>
              <a:t>پراکنده اطلاعات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26EA10-058A-4752-B7A4-70293145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241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3657B"/>
                </a:solidFill>
                <a:latin typeface="Tahoma"/>
                <a:ea typeface="Tahoma"/>
                <a:cs typeface="Tahoma"/>
              </a:rPr>
              <a:t>نمی‌شود. ثبت واحد مسیر یک در تعمیر وضعیت و مشتری سوابق پذیرش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B6312-590F-4800-8FB5-FD967C8D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924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D4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4FC171-6A8C-44D1-9A49-E826EF49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483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71426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71426"/>
                </a:solidFill>
                <a:latin typeface="Tahoma"/>
                <a:ea typeface="Tahoma"/>
                <a:cs typeface="Tahoma"/>
              </a:rPr>
              <a:t>مشتری برای پایین شفافیت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9BBA16-BD67-45D1-BB7F-95A1BD6E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576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3657B"/>
                </a:solidFill>
                <a:latin typeface="Tahoma"/>
                <a:ea typeface="Tahoma"/>
                <a:cs typeface="Tahoma"/>
              </a:rPr>
              <a:t>است. تکراری تماس‌های به ناچار دستگاه وضعیت از اطلاع برای مشتری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3B1802-4AF0-4D81-9BD7-10C365AA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257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76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79AE2E-B633-4F18-9F23-44DB876D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91125"/>
            <a:ext cx="483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71426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71426"/>
                </a:solidFill>
                <a:latin typeface="Tahoma"/>
                <a:ea typeface="Tahoma"/>
                <a:cs typeface="Tahoma"/>
              </a:rPr>
              <a:t>تیم و مالی دشوار کنترل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786A70-42EE-44C5-B7C2-09B20DA3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911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3657B"/>
                </a:solidFill>
                <a:latin typeface="Tahoma"/>
                <a:ea typeface="Tahoma"/>
                <a:cs typeface="Tahoma"/>
              </a:rPr>
              <a:t>است. پیگیری قابل به‌سختی همکاران عملکرد و ارجاع تسویه فاکتور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F49721-E9AB-4335-B8DA-ADD05FCB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4953000" cy="4619625"/>
          </a:xfrm>
          <a:prstGeom xmlns:a="http://schemas.openxmlformats.org/drawingml/2006/main" prst="roundRect">
            <a:avLst>
              <a:gd name="adj" fmla="val 3299"/>
            </a:avLst>
          </a:prstGeom>
          <a:solidFill xmlns:a="http://schemas.openxmlformats.org/drawingml/2006/main">
            <a:srgbClr val="0610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574684-47DD-4C8D-BFDD-B638ED47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پرهزینه اما روزمره مسئله‌ای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E7FEF1-7BC8-4407-AD3C-07A7AB7A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C6D3E2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C6D3E2"/>
                </a:solidFill>
                <a:latin typeface="Tahoma"/>
                <a:ea typeface="Tahoma"/>
                <a:cs typeface="Tahoma"/>
              </a:rPr>
              <a:t>دارد گردش‌کار یک دستگاه هر</a:t>
            </a:r>
          </a:p>
          <a:p xmlns:a="http://schemas.openxmlformats.org/drawingml/2006/main">
            <a:pPr algn="r">
              <a:defRPr sz="1725" b="0">
                <a:solidFill>
                  <a:srgbClr val="C6D3E2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C6D3E2"/>
                </a:solidFill>
                <a:latin typeface="Tahoma"/>
                <a:ea typeface="Tahoma"/>
                <a:cs typeface="Tahoma"/>
              </a:rPr>
              <a:t>نباشد مشاهده قابل و ثبت گردش‌کار اگر</a:t>
            </a:r>
          </a:p>
          <a:p xmlns:a="http://schemas.openxmlformats.org/drawingml/2006/main">
            <a:pPr algn="r">
              <a:defRPr sz="1725" b="0">
                <a:solidFill>
                  <a:srgbClr val="C6D3E2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C6D3E2"/>
                </a:solidFill>
                <a:latin typeface="Tahoma"/>
                <a:ea typeface="Tahoma"/>
                <a:cs typeface="Tahoma"/>
              </a:rPr>
              <a:t>می‌شود بیشتر نارضایتی و تأخیر و خطا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F6C065-4742-41F6-90A0-72DE8C13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95825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DA2F4D-9AFF-400C-ADC0-42CE8509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6D43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66D437"/>
                </a:solidFill>
                <a:latin typeface="Tahoma"/>
                <a:ea typeface="Tahoma"/>
                <a:cs typeface="Tahoma"/>
              </a:rPr>
              <a:t>می‌کند. دیجیتال را گردش‌کار این پیوو</a:t>
            </a:r>
          </a:p>
        </p:txBody>
      </p:sp>
    </p:spTree>
    <p:extLst>
      <p:ext uri="{BB962C8B-B14F-4D97-AF65-F5344CB8AC3E}">
        <p14:creationId xmlns:p14="http://schemas.microsoft.com/office/powerpoint/2010/main" val="14718667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D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0B0033-5B58-4117-8174-7606FB7C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58F02A-5076-437F-ACB8-0271B56A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D4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06D4F-3C4A-41E0-BCD2-DF2CAFCB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3657B"/>
                </a:solidFill>
                <a:latin typeface="Tahoma"/>
                <a:ea typeface="Tahoma"/>
                <a:cs typeface="Tahoma"/>
              </a:rPr>
              <a:t>۰3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60A0F-8B31-488E-A652-DAD877A8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436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53657B"/>
                </a:solidFill>
                <a:latin typeface="Tahoma"/>
                <a:ea typeface="Tahoma"/>
                <a:cs typeface="Tahoma"/>
              </a:rPr>
              <a:t>PEYVO  |  PITCH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69E1D-D700-400C-9DB7-871787F8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071426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071426"/>
                </a:solidFill>
                <a:latin typeface="Tahoma"/>
                <a:ea typeface="Tahoma"/>
                <a:cs typeface="Tahoma"/>
              </a:rPr>
              <a:t>تعمیر مسیر تمام برای پنل یک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735f1f4174cae"/>
          <a:srcRect xmlns:a="http://schemas.openxmlformats.org/drawingml/2006/main" l="0" t="23887" r="0" b="238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352550"/>
            <a:ext cx="4095750" cy="4629150"/>
          </a:xfrm>
          <a:prstGeom xmlns:a="http://schemas.openxmlformats.org/drawingml/2006/main" prst="roundRect">
            <a:avLst>
              <a:gd name="adj" fmla="val 372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7C0C64-14C4-45F0-BD13-7DF4FF1F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09700"/>
            <a:ext cx="638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53657B"/>
                </a:solidFill>
                <a:latin typeface="Tahoma"/>
                <a:ea typeface="Tahoma"/>
                <a:cs typeface="Tahoma"/>
              </a:rPr>
              <a:t>می‌کند ثبت دستگاه ورود لحظه از را تعمیر فرایند پیوو</a:t>
            </a:r>
          </a:p>
          <a:p xmlns:a="http://schemas.openxmlformats.org/drawingml/2006/main">
            <a:pPr algn="r">
              <a:defRPr sz="1875" b="1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53657B"/>
                </a:solidFill>
                <a:latin typeface="Tahoma"/>
                <a:ea typeface="Tahoma"/>
                <a:cs typeface="Tahoma"/>
              </a:rPr>
              <a:t>است پیگیری و مشاهده قابل تسویه پایان تا مسیر این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1E5711-6B61-4DFC-A7E8-67F03B22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A84F1-2286-487A-8D94-869BBB92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5717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00AB2-C534-4116-B33B-09E33DEA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765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71426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71426"/>
                </a:solidFill>
                <a:latin typeface="Tahoma"/>
                <a:ea typeface="Tahoma"/>
                <a:cs typeface="Tahoma"/>
              </a:rPr>
              <a:t>پذیرش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5FADAD-8816-44C9-9B10-242E41F8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0512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3657B"/>
                </a:solidFill>
                <a:latin typeface="Tahoma"/>
                <a:ea typeface="Tahoma"/>
                <a:cs typeface="Tahoma"/>
              </a:rPr>
              <a:t>ایراد شرح و دستگاه مشتری ثبت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64C01-F051-4D06-8606-E7297098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048000"/>
            <a:ext cx="285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F63CAB-59DE-41B2-94AE-C0E3B852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00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9187F9-7687-47D2-B909-EEAA6229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957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A98572-FA83-4CA8-8C05-AC5A2D49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004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71426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71426"/>
                </a:solidFill>
                <a:latin typeface="Tahoma"/>
                <a:ea typeface="Tahoma"/>
                <a:cs typeface="Tahoma"/>
              </a:rPr>
              <a:t>تعمیر مدیریت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A90D3F-8EF4-4E2B-8A0C-6EC813E0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290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3657B"/>
                </a:solidFill>
                <a:latin typeface="Tahoma"/>
                <a:ea typeface="Tahoma"/>
                <a:cs typeface="Tahoma"/>
              </a:rPr>
              <a:t>ارجاع و قطعات تکنسین وضعیت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1E06F8-AB12-45EE-9FF4-A799D10D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71950"/>
            <a:ext cx="285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AC4F32-3714-46C3-A71D-BCDCCA93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724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D4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1F4B90-EDF5-4228-99DD-23FA33E2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8196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AF52D3-145C-4EB4-94FD-CA4BF128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244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71426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71426"/>
                </a:solidFill>
                <a:latin typeface="Tahoma"/>
                <a:ea typeface="Tahoma"/>
                <a:cs typeface="Tahoma"/>
              </a:rPr>
              <a:t>تسویه و تحویل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87A1E2-C9AF-49D2-A8CA-B7CB0A42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5302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3657B"/>
                </a:solidFill>
                <a:latin typeface="Tahoma"/>
                <a:ea typeface="Tahoma"/>
                <a:cs typeface="Tahoma"/>
              </a:rPr>
              <a:t>اطلاع‌رسانی و پرداخت فاکتور</a:t>
            </a:r>
          </a:p>
        </p:txBody>
      </p:sp>
    </p:spTree>
    <p:extLst>
      <p:ext uri="{BB962C8B-B14F-4D97-AF65-F5344CB8AC3E}">
        <p14:creationId xmlns:p14="http://schemas.microsoft.com/office/powerpoint/2010/main" val="14867317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87672E-EA9B-430D-A37F-AD8F9C94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7A5DA-3CA3-497D-BA57-03BCF60B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D4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37384-0451-4E96-9582-F069A55C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3657B"/>
                </a:solidFill>
                <a:latin typeface="Tahoma"/>
                <a:ea typeface="Tahoma"/>
                <a:cs typeface="Tahoma"/>
              </a:rPr>
              <a:t>۰4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18E24-05F5-4850-B09D-DD96F9D3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436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53657B"/>
                </a:solidFill>
                <a:latin typeface="Tahoma"/>
                <a:ea typeface="Tahoma"/>
                <a:cs typeface="Tahoma"/>
              </a:rPr>
              <a:t>PEYVO  |  PITCH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83EEA-0410-429D-AD6C-DD00E48F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071426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071426"/>
                </a:solidFill>
                <a:latin typeface="Tahoma"/>
                <a:ea typeface="Tahoma"/>
                <a:cs typeface="Tahoma"/>
              </a:rPr>
              <a:t>است شده ساخته اکوسیستم ضلع سه برای محصول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C80FC-BA07-4FA2-8961-7667CD87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03C96-44DF-41E5-A906-7D194B17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669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071426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071426"/>
                </a:solidFill>
                <a:latin typeface="Tahoma"/>
                <a:ea typeface="Tahoma"/>
                <a:cs typeface="Tahoma"/>
              </a:rPr>
              <a:t>تعمیرگاه مدیریت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7F78FF-F816-4D97-8E2B-06D21282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98383-4371-499B-8DD2-4FDB9F50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53657B"/>
                </a:solidFill>
                <a:latin typeface="Tahoma"/>
                <a:ea typeface="Tahoma"/>
                <a:cs typeface="Tahoma"/>
              </a:rPr>
              <a:t>تعمیر گردش‌کار و پذیرش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C04F3-78A9-4471-B6EB-5CB142AD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B05F70-E763-41AB-8797-7387D821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04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3657B"/>
                </a:solidFill>
                <a:latin typeface="Tahoma"/>
                <a:ea typeface="Tahoma"/>
                <a:cs typeface="Tahoma"/>
              </a:rPr>
              <a:t>فاکتور و انبار مشتریان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03E635-005A-457B-A29D-73B60DED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10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D46270-A124-4009-8242-E45079B1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3657B"/>
                </a:solidFill>
                <a:latin typeface="Tahoma"/>
                <a:ea typeface="Tahoma"/>
                <a:cs typeface="Tahoma"/>
              </a:rPr>
              <a:t>تسویه و گزارش کارمندان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13287F-3CF6-4508-B4F9-2A49601B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240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D4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874151-982A-4899-85AC-D9ED02E8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071426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071426"/>
                </a:solidFill>
                <a:latin typeface="Tahoma"/>
                <a:ea typeface="Tahoma"/>
                <a:cs typeface="Tahoma"/>
              </a:rPr>
              <a:t>مشتری تجربه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353417-93D6-4DAE-BFFC-A258C7F7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D4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302832-A735-4954-A37E-5BD58FD3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241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53657B"/>
                </a:solidFill>
                <a:latin typeface="Tahoma"/>
                <a:ea typeface="Tahoma"/>
                <a:cs typeface="Tahoma"/>
              </a:rPr>
              <a:t>تعمیر وضعیت پیگیری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0B05BB-1477-4C62-A2B4-3867A227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D4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5F59AE-BEA4-42AA-9892-F0789539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004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3657B"/>
                </a:solidFill>
                <a:latin typeface="Tahoma"/>
                <a:ea typeface="Tahoma"/>
                <a:cs typeface="Tahoma"/>
              </a:rPr>
              <a:t>دستگاه‌ها سوابق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18B416-674F-43BF-BD72-521B4B7E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10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D4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B03F8E-4DF0-48DD-A355-B8C1615D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767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3657B"/>
                </a:solidFill>
                <a:latin typeface="Tahoma"/>
                <a:ea typeface="Tahoma"/>
                <a:cs typeface="Tahoma"/>
              </a:rPr>
              <a:t>وضعیت اعلان و گفت‌وگو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20B34F-119F-44CD-A228-71249616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240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6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899298-A36B-46D9-AFE6-C2617791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669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071426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071426"/>
                </a:solidFill>
                <a:latin typeface="Tahoma"/>
                <a:ea typeface="Tahoma"/>
                <a:cs typeface="Tahoma"/>
              </a:rPr>
              <a:t>همکاری شبکه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4819C3-53C3-4497-9A5D-6A8DDECF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76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9E0306-3C89-464B-8DF0-8B1B9A06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53657B"/>
                </a:solidFill>
                <a:latin typeface="Tahoma"/>
                <a:ea typeface="Tahoma"/>
                <a:cs typeface="Tahoma"/>
              </a:rPr>
              <a:t>تخصصی تعمیر ارجاع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472092-4ED6-4534-BF83-654A342C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76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A6ACF3-6D67-4003-BB83-F7607E00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004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3657B"/>
                </a:solidFill>
                <a:latin typeface="Tahoma"/>
                <a:ea typeface="Tahoma"/>
                <a:cs typeface="Tahoma"/>
              </a:rPr>
              <a:t>دریافت و ارسال نحوه ثبت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C7BAE6-7E1C-47B4-8806-E24E9783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610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76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08B2CF-0207-4871-ABA5-E164A940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767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3657B"/>
                </a:solidFill>
                <a:latin typeface="Tahoma"/>
                <a:ea typeface="Tahoma"/>
                <a:cs typeface="Tahoma"/>
              </a:rPr>
              <a:t>همکاران میان تسویه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53263C-E8BE-4B0F-9CAF-ED8F6BC5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B2DBDA-D918-49E7-BB67-E0B6E230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045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A9B3A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2A9B3A"/>
                </a:solidFill>
                <a:latin typeface="Tahoma"/>
                <a:ea typeface="Tahoma"/>
                <a:cs typeface="Tahoma"/>
              </a:rPr>
              <a:t>مشترک داده هسته یک با مشتری پنل و اندروید اپلیکیشن وب</a:t>
            </a:r>
          </a:p>
        </p:txBody>
      </p:sp>
    </p:spTree>
    <p:extLst>
      <p:ext uri="{BB962C8B-B14F-4D97-AF65-F5344CB8AC3E}">
        <p14:creationId xmlns:p14="http://schemas.microsoft.com/office/powerpoint/2010/main" val="8330776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DA5D40-F69A-4855-8DA5-72071623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38301-822E-460B-BF63-7C81476E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D4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8B88E6-6555-40A7-BB60-7AF42044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5BC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91A5BC"/>
                </a:solidFill>
                <a:latin typeface="Tahoma"/>
                <a:ea typeface="Tahoma"/>
                <a:cs typeface="Tahoma"/>
              </a:rPr>
              <a:t>۰5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20249-4FD1-4FCA-A990-0FF028E4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436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A5BC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91A5BC"/>
                </a:solidFill>
                <a:latin typeface="Tahoma"/>
                <a:ea typeface="Tahoma"/>
                <a:cs typeface="Tahoma"/>
              </a:rPr>
              <a:t>PEYVO  |  PITCH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A70B5-D473-4036-BDE4-4E4FE2FD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تکرارشونده درآمدی مدل است روشن هدف بازار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81D9E0-1180-4804-BD32-3A53CB62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هدف مشتریان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D1F62-903D-4891-83C2-E4F65685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400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2153C-69BC-4D51-8468-935B147E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مستقل تعمیرکار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7D31B2-57A1-4350-90A6-429E9D9A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33675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7C6D8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B7C6D8"/>
                </a:solidFill>
                <a:latin typeface="Tahoma"/>
                <a:ea typeface="Tahoma"/>
                <a:cs typeface="Tahoma"/>
              </a:rPr>
              <a:t>حرفه‌ای فاکتور و مشتری سابقه نظم نیازمند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D8B65-9993-4190-AEE9-5E90A2A4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667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D4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5D62AA-0FD6-4289-9AB0-42122664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04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رشد حال در تعمیرگاه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5BD0B2-8A5F-46E3-AEC0-FDDCD39A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7C6D8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B7C6D8"/>
                </a:solidFill>
                <a:latin typeface="Tahoma"/>
                <a:ea typeface="Tahoma"/>
                <a:cs typeface="Tahoma"/>
              </a:rPr>
              <a:t>تیم مدیریت و گزارش کار تقسیم نیازمند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32A998-8847-4B2E-8CF7-A2496AD9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933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76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63E51-0B9E-4D1C-89BF-FE625BAF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67275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چندشعبه‌ای خدمات مراکز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30407C-B1B8-47D8-87AB-C9D06323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67325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7C6D8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B7C6D8"/>
                </a:solidFill>
                <a:latin typeface="Tahoma"/>
                <a:ea typeface="Tahoma"/>
                <a:cs typeface="Tahoma"/>
              </a:rPr>
              <a:t>واحد چند کنترل و یکپارچه دید نیازمند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242C5A-345E-4B8E-82B3-F405B021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4953000" cy="447675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0D2138"/>
          </a:solidFill>
          <a:ln xmlns:a="http://schemas.openxmlformats.org/drawingml/2006/main" w="9525">
            <a:solidFill>
              <a:srgbClr val="2842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269B0E-0605-4323-83B8-622599E7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درآمدی مدل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77ED77-9FE8-480F-9A8E-1697207E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66D437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66D437"/>
                </a:solidFill>
                <a:latin typeface="Tahoma"/>
                <a:ea typeface="Tahoma"/>
                <a:cs typeface="Tahoma"/>
              </a:rPr>
              <a:t>(SaaS) سرویس به‌عنوان نرم‌افزار اشتراک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A81449-E172-4715-8E56-784ADED1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B7C6D8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B7C6D8"/>
                </a:solidFill>
                <a:latin typeface="Tahoma"/>
                <a:ea typeface="Tahoma"/>
                <a:cs typeface="Tahoma"/>
              </a:rPr>
              <a:t>تعمیرگاه کاری مدل و اندازه با متناسب پلن‌های</a:t>
            </a:r>
          </a:p>
          <a:p xmlns:a="http://schemas.openxmlformats.org/drawingml/2006/main">
            <a:pPr algn="r">
              <a:defRPr sz="1575" b="0">
                <a:solidFill>
                  <a:srgbClr val="B7C6D8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B7C6D8"/>
                </a:solidFill>
                <a:latin typeface="Tahoma"/>
                <a:ea typeface="Tahoma"/>
                <a:cs typeface="Tahoma"/>
              </a:rPr>
              <a:t>کسب‌وکار رشد با هم‌زمان اشتراک ارتقای امکان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D53213-E2DF-443F-BFF2-28A8A500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197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59CF4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59CF4"/>
                </a:solidFill>
                <a:latin typeface="Tahoma"/>
                <a:ea typeface="Tahoma"/>
                <a:cs typeface="Tahoma"/>
              </a:rPr>
              <a:t>اشتراک ارتقای → محصول تجربه → رایگان شروع</a:t>
            </a:r>
          </a:p>
        </p:txBody>
      </p:sp>
    </p:spTree>
    <p:extLst>
      <p:ext uri="{BB962C8B-B14F-4D97-AF65-F5344CB8AC3E}">
        <p14:creationId xmlns:p14="http://schemas.microsoft.com/office/powerpoint/2010/main" val="3298861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EFA004-65E5-47D0-ABD4-52D605E1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97F89-91C3-49E6-8C32-869467F6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D4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5D02BB-0969-47CF-B2BC-2C758E19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3657B"/>
                </a:solidFill>
                <a:latin typeface="Tahoma"/>
                <a:ea typeface="Tahoma"/>
                <a:cs typeface="Tahoma"/>
              </a:rPr>
              <a:t>۰6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447D2-95E9-4C36-B64F-F01FF6E1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436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53657B"/>
                </a:solidFill>
                <a:latin typeface="Tahoma"/>
                <a:ea typeface="Tahoma"/>
                <a:cs typeface="Tahoma"/>
              </a:rPr>
              <a:t>PEYVO  |  PITCH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A4DAF-F3CF-4438-99AA-5FAC8AA2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071426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071426"/>
                </a:solidFill>
                <a:latin typeface="Tahoma"/>
                <a:ea typeface="Tahoma"/>
                <a:cs typeface="Tahoma"/>
              </a:rPr>
              <a:t>است رشد مرحله به ورود آماده و شده ساخته محصول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3B86B-23D6-4C80-B3AB-58FADE62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2A9B3A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2A9B3A"/>
                </a:solidFill>
                <a:latin typeface="Tahoma"/>
                <a:ea typeface="Tahoma"/>
                <a:cs typeface="Tahoma"/>
              </a:rPr>
              <a:t>اولیه فعلی: مرحله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B538B-F3EC-46B2-A963-6AFD57C3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81125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53657B"/>
                </a:solidFill>
                <a:latin typeface="Tahoma"/>
                <a:ea typeface="Tahoma"/>
                <a:cs typeface="Tahoma"/>
              </a:rPr>
              <a:t>است یافته توسعه اندروید و وب عملیاتی نسخه</a:t>
            </a:r>
          </a:p>
          <a:p xmlns:a="http://schemas.openxmlformats.org/drawingml/2006/main">
            <a:pPr algn="r">
              <a:defRPr sz="1650" b="1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53657B"/>
                </a:solidFill>
                <a:latin typeface="Tahoma"/>
                <a:ea typeface="Tahoma"/>
                <a:cs typeface="Tahoma"/>
              </a:rPr>
              <a:t>هستند استفاده قابل اکنون محصول اصلی مسیرهای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F21870-B391-4B5D-932B-32D8A61C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1009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F9977-F7E5-404B-9649-00C5DA24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1623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77278-3024-4042-BAD1-8B084619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2480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00066-03D3-4AD6-B993-DD996C3D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9814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426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71426"/>
                </a:solidFill>
                <a:latin typeface="Tahoma"/>
                <a:ea typeface="Tahoma"/>
                <a:cs typeface="Tahoma"/>
              </a:rPr>
              <a:t>محصول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F62CEB-B9A2-43D0-B1E2-FC09DD20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577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57B"/>
                </a:solidFill>
                <a:latin typeface="Tahoma"/>
                <a:ea typeface="Tahoma"/>
                <a:cs typeface="Tahoma"/>
              </a:rPr>
              <a:t>اندروید اپ و وب نسخه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A7C2F0-F1AC-4C42-B3C0-79C58FBD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1623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D4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13706A-B19B-4A31-820C-4546A0D0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2480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D2CF48-2AFF-4213-A48A-4D96673B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9814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426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71426"/>
                </a:solidFill>
                <a:latin typeface="Tahoma"/>
                <a:ea typeface="Tahoma"/>
                <a:cs typeface="Tahoma"/>
              </a:rPr>
              <a:t>عملیات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1F6CF3-DA4B-4BB2-9FA2-1F570999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4577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57B"/>
                </a:solidFill>
                <a:latin typeface="Tahoma"/>
                <a:ea typeface="Tahoma"/>
                <a:cs typeface="Tahoma"/>
              </a:rPr>
              <a:t>پیامک و فاکتور پذیرش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B74DC5-3885-48A1-BEB6-722D6B37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1623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76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853C31-BF90-4F72-8847-9B3AFBEF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2480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0A9F7B-C176-4BFA-9B8C-A05BD87F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814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426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71426"/>
                </a:solidFill>
                <a:latin typeface="Tahoma"/>
                <a:ea typeface="Tahoma"/>
                <a:cs typeface="Tahoma"/>
              </a:rPr>
              <a:t>اعتماد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11315E-5615-40EA-82DD-8E84BC75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577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57B"/>
                </a:solidFill>
                <a:latin typeface="Tahoma"/>
                <a:ea typeface="Tahoma"/>
                <a:cs typeface="Tahoma"/>
              </a:rPr>
              <a:t>پرداخت درگاه و دامنه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E7FBC6-D561-4BD2-9DAD-FC9B87B0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31623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156E31-BFC1-4F06-99E5-AB062BB0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32480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3F3E57-3612-436E-A772-32D8CC5E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9814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426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71426"/>
                </a:solidFill>
                <a:latin typeface="Tahoma"/>
                <a:ea typeface="Tahoma"/>
                <a:cs typeface="Tahoma"/>
              </a:rPr>
              <a:t>انتشار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FB8BE6-FEEA-4CBB-AAFC-03F02E58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4577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57B"/>
                </a:solidFill>
                <a:latin typeface="Tahoma"/>
                <a:ea typeface="Tahoma"/>
                <a:cs typeface="Tahoma"/>
              </a:rPr>
              <a:t>اولیه کاربران جذب آماده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29D38A-89BF-453C-9DC3-FD687AD3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F9304C-5D6B-4591-B023-5597AE51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24550"/>
            <a:ext cx="11010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76DB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76DB"/>
                </a:solidFill>
                <a:latin typeface="Tahoma"/>
                <a:ea typeface="Tahoma"/>
                <a:cs typeface="Tahoma"/>
              </a:rPr>
              <a:t>همکاری شبکه توسعه و تعمیرگاه‌ها جذب تولیدی استقرار پایدار زیرساخت بعدی: تمرکز</a:t>
            </a:r>
          </a:p>
        </p:txBody>
      </p:sp>
    </p:spTree>
    <p:extLst>
      <p:ext uri="{BB962C8B-B14F-4D97-AF65-F5344CB8AC3E}">
        <p14:creationId xmlns:p14="http://schemas.microsoft.com/office/powerpoint/2010/main" val="8093826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D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C9A6F6-BB0D-47DD-A578-577F8AEB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AC91F-381B-4CA1-A892-B0E911CE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D4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5F16D-6169-457A-AE43-FF4E9C35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3657B"/>
                </a:solidFill>
                <a:latin typeface="Tahoma"/>
                <a:ea typeface="Tahoma"/>
                <a:cs typeface="Tahoma"/>
              </a:rPr>
              <a:t>۰7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3825D-FED8-40BF-AA79-3ED11914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436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53657B"/>
                </a:solidFill>
                <a:latin typeface="Tahoma"/>
                <a:ea typeface="Tahoma"/>
                <a:cs typeface="Tahoma"/>
              </a:rPr>
              <a:t>PEYVO  |  PITCH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41D96-EEC2-405C-A27D-99F65F21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071426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071426"/>
                </a:solidFill>
                <a:latin typeface="Tahoma"/>
                <a:ea typeface="Tahoma"/>
                <a:cs typeface="Tahoma"/>
              </a:rPr>
              <a:t>می‌کند پایدار را پیوو رشد مسیر آروان حمایت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E0DB2-FAB1-44AC-A96A-21192E89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071426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71426"/>
                </a:solidFill>
                <a:latin typeface="Tahoma"/>
                <a:ea typeface="Tahoma"/>
                <a:cs typeface="Tahoma"/>
              </a:rPr>
              <a:t>زیرساختی نیاز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E7BB2-6EE2-4137-ACAE-0EAF79CB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305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C49B9A-9B1B-46CD-B6B0-03D6BB18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38375"/>
            <a:ext cx="4171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71426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71426"/>
                </a:solidFill>
                <a:latin typeface="Tahoma"/>
                <a:ea typeface="Tahoma"/>
                <a:cs typeface="Tahoma"/>
              </a:rPr>
              <a:t>ابری رایانش و سرور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350028-8B37-4D8A-8598-33AFA2EA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38425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3657B"/>
                </a:solidFill>
                <a:latin typeface="Tahoma"/>
                <a:ea typeface="Tahoma"/>
                <a:cs typeface="Tahoma"/>
              </a:rPr>
              <a:t>API و اپلیکیشن پایدار اجرای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7C8B58-98FE-420A-8CAD-55B6F20E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D4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37D7F-AB42-4085-A1B1-FCDC615D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76625"/>
            <a:ext cx="4171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71426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71426"/>
                </a:solidFill>
                <a:latin typeface="Tahoma"/>
                <a:ea typeface="Tahoma"/>
                <a:cs typeface="Tahoma"/>
              </a:rPr>
              <a:t>ذخیره‌سازی و دیتابیس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26A73E-7648-469B-94CA-49470ABD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76675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3657B"/>
                </a:solidFill>
                <a:latin typeface="Tahoma"/>
                <a:ea typeface="Tahoma"/>
                <a:cs typeface="Tahoma"/>
              </a:rPr>
              <a:t>پشتیبان نسخه‌های و فایل‌ها عملیاتی داده‌های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018730-9C09-4C09-A8EC-3AA1B414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781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76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3172BB-87FB-44C4-B7ED-57EF672C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14875"/>
            <a:ext cx="4171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71426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71426"/>
                </a:solidFill>
                <a:latin typeface="Tahoma"/>
                <a:ea typeface="Tahoma"/>
                <a:cs typeface="Tahoma"/>
              </a:rPr>
              <a:t>امنیت و CDN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5780C7-595C-41EC-95A6-F8D7386F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14925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57B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3657B"/>
                </a:solidFill>
                <a:latin typeface="Tahoma"/>
                <a:ea typeface="Tahoma"/>
                <a:cs typeface="Tahoma"/>
              </a:rPr>
              <a:t>ایران سراسر کاربران برای امن و سریع دسترسی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708BE2-BB92-4623-A397-091D58C4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5429250" cy="447675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0610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7B774D-216A-48FF-8429-0B6E5DB8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57375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حمایت هدف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E90F08-BE5D-4950-9910-C71B6ACA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14625"/>
            <a:ext cx="4667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اولیه کاربران جذب دوره در زیرساخت هزینه کاهش</a:t>
            </a:r>
          </a:p>
          <a:p xmlns:a="http://schemas.openxmlformats.org/drawingml/2006/main">
            <a:pPr algn="r">
              <a:defRPr sz="20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محصول سراسری رشد برای اتکا قابل بستری ایجاد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97329A-09BC-4E96-969B-4DB3F159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00575"/>
            <a:ext cx="371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D4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DAB119-88D1-45E6-A0B9-8831F42B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19675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9CF4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59CF4"/>
                </a:solidFill>
                <a:latin typeface="Tahoma"/>
                <a:ea typeface="Tahoma"/>
                <a:cs typeface="Tahoma"/>
              </a:rPr>
              <a:t>peyvo.ir  |  support@peyvo.ir</a:t>
            </a:r>
          </a:p>
        </p:txBody>
      </p:sp>
    </p:spTree>
    <p:extLst>
      <p:ext uri="{BB962C8B-B14F-4D97-AF65-F5344CB8AC3E}">
        <p14:creationId xmlns:p14="http://schemas.microsoft.com/office/powerpoint/2010/main" val="20077137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2026-08-18T20:50:33.4620000Z</dcterms:created>
  <dcterms:modified xsi:type="dcterms:W3CDTF">2026-08-18T20:50:33.4630000Z</dcterms:modified>
</coreProperties>
</file>